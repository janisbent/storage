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6" r:id="rId3"/>
    <p:sldId id="258" r:id="rId4"/>
    <p:sldId id="259" r:id="rId5"/>
    <p:sldId id="260" r:id="rId6"/>
    <p:sldId id="267" r:id="rId7"/>
    <p:sldId id="268" r:id="rId8"/>
    <p:sldId id="269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42EC3-4E79-1D4F-8CE5-FF5A9D4B917D}" v="15" dt="2022-03-26T12:53:32.644"/>
    <p1510:client id="{8BCBA7FE-FD7D-F54F-A3A2-497DF3503995}" v="2736" dt="2022-03-26T12:46:11.8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Janis" userId="c5d3ac8f-8ff2-4214-bd98-a342c0d6e9f5" providerId="ADAL" clId="{8BCBA7FE-FD7D-F54F-A3A2-497DF3503995}"/>
    <pc:docChg chg="custSel modSld">
      <pc:chgData name="Benjamin Janis" userId="c5d3ac8f-8ff2-4214-bd98-a342c0d6e9f5" providerId="ADAL" clId="{8BCBA7FE-FD7D-F54F-A3A2-497DF3503995}" dt="2022-03-26T12:46:11.813" v="2735" actId="20577"/>
      <pc:docMkLst>
        <pc:docMk/>
      </pc:docMkLst>
      <pc:sldChg chg="modNotesTx">
        <pc:chgData name="Benjamin Janis" userId="c5d3ac8f-8ff2-4214-bd98-a342c0d6e9f5" providerId="ADAL" clId="{8BCBA7FE-FD7D-F54F-A3A2-497DF3503995}" dt="2022-03-26T11:49:08.685" v="668" actId="20577"/>
        <pc:sldMkLst>
          <pc:docMk/>
          <pc:sldMk cId="1956637619" sldId="258"/>
        </pc:sldMkLst>
      </pc:sldChg>
      <pc:sldChg chg="modNotesTx">
        <pc:chgData name="Benjamin Janis" userId="c5d3ac8f-8ff2-4214-bd98-a342c0d6e9f5" providerId="ADAL" clId="{8BCBA7FE-FD7D-F54F-A3A2-497DF3503995}" dt="2022-03-26T11:51:04.575" v="749" actId="20577"/>
        <pc:sldMkLst>
          <pc:docMk/>
          <pc:sldMk cId="885063867" sldId="259"/>
        </pc:sldMkLst>
      </pc:sldChg>
      <pc:sldChg chg="modNotesTx">
        <pc:chgData name="Benjamin Janis" userId="c5d3ac8f-8ff2-4214-bd98-a342c0d6e9f5" providerId="ADAL" clId="{8BCBA7FE-FD7D-F54F-A3A2-497DF3503995}" dt="2022-03-26T12:12:41.282" v="1086" actId="20577"/>
        <pc:sldMkLst>
          <pc:docMk/>
          <pc:sldMk cId="3430862756" sldId="260"/>
        </pc:sldMkLst>
      </pc:sldChg>
      <pc:sldChg chg="modNotesTx">
        <pc:chgData name="Benjamin Janis" userId="c5d3ac8f-8ff2-4214-bd98-a342c0d6e9f5" providerId="ADAL" clId="{8BCBA7FE-FD7D-F54F-A3A2-497DF3503995}" dt="2022-03-26T12:46:11.813" v="2735" actId="20577"/>
        <pc:sldMkLst>
          <pc:docMk/>
          <pc:sldMk cId="2087076203" sldId="264"/>
        </pc:sldMkLst>
      </pc:sldChg>
      <pc:sldChg chg="modNotesTx">
        <pc:chgData name="Benjamin Janis" userId="c5d3ac8f-8ff2-4214-bd98-a342c0d6e9f5" providerId="ADAL" clId="{8BCBA7FE-FD7D-F54F-A3A2-497DF3503995}" dt="2022-03-26T11:38:06.960" v="114" actId="20577"/>
        <pc:sldMkLst>
          <pc:docMk/>
          <pc:sldMk cId="700433005" sldId="266"/>
        </pc:sldMkLst>
      </pc:sldChg>
      <pc:sldChg chg="modNotesTx">
        <pc:chgData name="Benjamin Janis" userId="c5d3ac8f-8ff2-4214-bd98-a342c0d6e9f5" providerId="ADAL" clId="{8BCBA7FE-FD7D-F54F-A3A2-497DF3503995}" dt="2022-03-26T12:28:35.766" v="1431" actId="20577"/>
        <pc:sldMkLst>
          <pc:docMk/>
          <pc:sldMk cId="650806364" sldId="267"/>
        </pc:sldMkLst>
      </pc:sldChg>
      <pc:sldChg chg="modNotesTx">
        <pc:chgData name="Benjamin Janis" userId="c5d3ac8f-8ff2-4214-bd98-a342c0d6e9f5" providerId="ADAL" clId="{8BCBA7FE-FD7D-F54F-A3A2-497DF3503995}" dt="2022-03-26T12:31:54.176" v="1943" actId="20577"/>
        <pc:sldMkLst>
          <pc:docMk/>
          <pc:sldMk cId="47351996" sldId="268"/>
        </pc:sldMkLst>
      </pc:sldChg>
      <pc:sldChg chg="modNotesTx">
        <pc:chgData name="Benjamin Janis" userId="c5d3ac8f-8ff2-4214-bd98-a342c0d6e9f5" providerId="ADAL" clId="{8BCBA7FE-FD7D-F54F-A3A2-497DF3503995}" dt="2022-03-26T12:37:43.577" v="2256" actId="20577"/>
        <pc:sldMkLst>
          <pc:docMk/>
          <pc:sldMk cId="29652844" sldId="269"/>
        </pc:sldMkLst>
      </pc:sldChg>
    </pc:docChg>
  </pc:docChgLst>
  <pc:docChgLst>
    <pc:chgData name="Benjamin Janis" userId="c5d3ac8f-8ff2-4214-bd98-a342c0d6e9f5" providerId="ADAL" clId="{33442EC3-4E79-1D4F-8CE5-FF5A9D4B917D}"/>
    <pc:docChg chg="modSld sldOrd">
      <pc:chgData name="Benjamin Janis" userId="c5d3ac8f-8ff2-4214-bd98-a342c0d6e9f5" providerId="ADAL" clId="{33442EC3-4E79-1D4F-8CE5-FF5A9D4B917D}" dt="2022-03-26T12:53:32.644" v="15"/>
      <pc:docMkLst>
        <pc:docMk/>
      </pc:docMkLst>
      <pc:sldChg chg="ord">
        <pc:chgData name="Benjamin Janis" userId="c5d3ac8f-8ff2-4214-bd98-a342c0d6e9f5" providerId="ADAL" clId="{33442EC3-4E79-1D4F-8CE5-FF5A9D4B917D}" dt="2022-03-26T12:04:52.601" v="0" actId="20578"/>
        <pc:sldMkLst>
          <pc:docMk/>
          <pc:sldMk cId="885063867" sldId="259"/>
        </pc:sldMkLst>
      </pc:sldChg>
      <pc:sldChg chg="addSp modSp mod modAnim">
        <pc:chgData name="Benjamin Janis" userId="c5d3ac8f-8ff2-4214-bd98-a342c0d6e9f5" providerId="ADAL" clId="{33442EC3-4E79-1D4F-8CE5-FF5A9D4B917D}" dt="2022-03-26T12:53:32.644" v="15"/>
        <pc:sldMkLst>
          <pc:docMk/>
          <pc:sldMk cId="650806364" sldId="267"/>
        </pc:sldMkLst>
        <pc:spChg chg="add mod">
          <ac:chgData name="Benjamin Janis" userId="c5d3ac8f-8ff2-4214-bd98-a342c0d6e9f5" providerId="ADAL" clId="{33442EC3-4E79-1D4F-8CE5-FF5A9D4B917D}" dt="2022-03-26T12:53:21.844" v="11" actId="1035"/>
          <ac:spMkLst>
            <pc:docMk/>
            <pc:sldMk cId="650806364" sldId="267"/>
            <ac:spMk id="5" creationId="{38DEF783-17CD-2342-A9B7-EAA21DCF0277}"/>
          </ac:spMkLst>
        </pc:spChg>
        <pc:spChg chg="add mod">
          <ac:chgData name="Benjamin Janis" userId="c5d3ac8f-8ff2-4214-bd98-a342c0d6e9f5" providerId="ADAL" clId="{33442EC3-4E79-1D4F-8CE5-FF5A9D4B917D}" dt="2022-03-26T12:53:25.298" v="13" actId="1076"/>
          <ac:spMkLst>
            <pc:docMk/>
            <pc:sldMk cId="650806364" sldId="267"/>
            <ac:spMk id="13" creationId="{16FC01A6-69CA-4D43-8D95-735F582C0A7A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370259-AF27-442C-BDE2-74D52704B68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2B2F86B-D572-4714-ABA8-792CBA852A4B}">
      <dgm:prSet/>
      <dgm:spPr/>
      <dgm:t>
        <a:bodyPr/>
        <a:lstStyle/>
        <a:p>
          <a:r>
            <a:rPr lang="en-US"/>
            <a:t>Consent/Waiver</a:t>
          </a:r>
        </a:p>
      </dgm:t>
    </dgm:pt>
    <dgm:pt modelId="{C560CBA8-4EE6-4514-9A52-18A65454C004}" type="parTrans" cxnId="{95DE9F6D-4ECB-4C9D-9370-EC08589A44B9}">
      <dgm:prSet/>
      <dgm:spPr/>
      <dgm:t>
        <a:bodyPr/>
        <a:lstStyle/>
        <a:p>
          <a:endParaRPr lang="en-US"/>
        </a:p>
      </dgm:t>
    </dgm:pt>
    <dgm:pt modelId="{50038A04-1322-4146-B836-C6574BBB30E0}" type="sibTrans" cxnId="{95DE9F6D-4ECB-4C9D-9370-EC08589A44B9}">
      <dgm:prSet/>
      <dgm:spPr/>
      <dgm:t>
        <a:bodyPr/>
        <a:lstStyle/>
        <a:p>
          <a:endParaRPr lang="en-US"/>
        </a:p>
      </dgm:t>
    </dgm:pt>
    <dgm:pt modelId="{CFA42A11-375C-48FF-8A23-1E71DAD30C70}">
      <dgm:prSet/>
      <dgm:spPr/>
      <dgm:t>
        <a:bodyPr/>
        <a:lstStyle/>
        <a:p>
          <a:r>
            <a:rPr lang="en-US"/>
            <a:t>Human Observer</a:t>
          </a:r>
        </a:p>
      </dgm:t>
    </dgm:pt>
    <dgm:pt modelId="{7C29B8E8-E871-4A86-8DC6-80836CF157A2}" type="parTrans" cxnId="{31CC62E8-5175-4A00-A9D4-EA2C0631D33F}">
      <dgm:prSet/>
      <dgm:spPr/>
      <dgm:t>
        <a:bodyPr/>
        <a:lstStyle/>
        <a:p>
          <a:endParaRPr lang="en-US"/>
        </a:p>
      </dgm:t>
    </dgm:pt>
    <dgm:pt modelId="{B79D8CA3-1F85-476F-8CB3-28A5A3D8BBCF}" type="sibTrans" cxnId="{31CC62E8-5175-4A00-A9D4-EA2C0631D33F}">
      <dgm:prSet/>
      <dgm:spPr/>
      <dgm:t>
        <a:bodyPr/>
        <a:lstStyle/>
        <a:p>
          <a:endParaRPr lang="en-US"/>
        </a:p>
      </dgm:t>
    </dgm:pt>
    <dgm:pt modelId="{C74DA435-D1F9-4B2D-8378-4AA5271A22A2}">
      <dgm:prSet/>
      <dgm:spPr/>
      <dgm:t>
        <a:bodyPr/>
        <a:lstStyle/>
        <a:p>
          <a:r>
            <a:rPr lang="en-US"/>
            <a:t>Technosocial Continuity</a:t>
          </a:r>
        </a:p>
      </dgm:t>
    </dgm:pt>
    <dgm:pt modelId="{DFDFBAFF-8EE3-4389-9DD8-0F702004F1AE}" type="parTrans" cxnId="{E55AEB2F-1ACA-4671-BEA0-1A7BB0F113F2}">
      <dgm:prSet/>
      <dgm:spPr/>
      <dgm:t>
        <a:bodyPr/>
        <a:lstStyle/>
        <a:p>
          <a:endParaRPr lang="en-US"/>
        </a:p>
      </dgm:t>
    </dgm:pt>
    <dgm:pt modelId="{33AB9058-C320-4D87-8E14-63A17C37E714}" type="sibTrans" cxnId="{E55AEB2F-1ACA-4671-BEA0-1A7BB0F113F2}">
      <dgm:prSet/>
      <dgm:spPr/>
      <dgm:t>
        <a:bodyPr/>
        <a:lstStyle/>
        <a:p>
          <a:endParaRPr lang="en-US"/>
        </a:p>
      </dgm:t>
    </dgm:pt>
    <dgm:pt modelId="{422259BC-C806-C54C-9681-3D2295024572}" type="pres">
      <dgm:prSet presAssocID="{05370259-AF27-442C-BDE2-74D52704B68C}" presName="linear" presStyleCnt="0">
        <dgm:presLayoutVars>
          <dgm:animLvl val="lvl"/>
          <dgm:resizeHandles val="exact"/>
        </dgm:presLayoutVars>
      </dgm:prSet>
      <dgm:spPr/>
    </dgm:pt>
    <dgm:pt modelId="{7B242D85-611E-F543-AC74-8E3825F3A665}" type="pres">
      <dgm:prSet presAssocID="{D2B2F86B-D572-4714-ABA8-792CBA852A4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63790E8E-16F4-9F4D-BB10-0B0C4331D7DF}" type="pres">
      <dgm:prSet presAssocID="{50038A04-1322-4146-B836-C6574BBB30E0}" presName="spacer" presStyleCnt="0"/>
      <dgm:spPr/>
    </dgm:pt>
    <dgm:pt modelId="{B6091555-B9F9-E548-9782-9ACEAFA7B0DB}" type="pres">
      <dgm:prSet presAssocID="{CFA42A11-375C-48FF-8A23-1E71DAD30C7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7A973ED-9D08-354B-A8F8-E95E4CFFEE1F}" type="pres">
      <dgm:prSet presAssocID="{B79D8CA3-1F85-476F-8CB3-28A5A3D8BBCF}" presName="spacer" presStyleCnt="0"/>
      <dgm:spPr/>
    </dgm:pt>
    <dgm:pt modelId="{B08ED509-D2A3-0C4A-A690-E3F756E12FCC}" type="pres">
      <dgm:prSet presAssocID="{C74DA435-D1F9-4B2D-8378-4AA5271A22A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6A7E415-899B-C04A-B897-F793369BB662}" type="presOf" srcId="{D2B2F86B-D572-4714-ABA8-792CBA852A4B}" destId="{7B242D85-611E-F543-AC74-8E3825F3A665}" srcOrd="0" destOrd="0" presId="urn:microsoft.com/office/officeart/2005/8/layout/vList2"/>
    <dgm:cxn modelId="{43E50323-F86C-4440-B304-9009E4295DCA}" type="presOf" srcId="{C74DA435-D1F9-4B2D-8378-4AA5271A22A2}" destId="{B08ED509-D2A3-0C4A-A690-E3F756E12FCC}" srcOrd="0" destOrd="0" presId="urn:microsoft.com/office/officeart/2005/8/layout/vList2"/>
    <dgm:cxn modelId="{E55AEB2F-1ACA-4671-BEA0-1A7BB0F113F2}" srcId="{05370259-AF27-442C-BDE2-74D52704B68C}" destId="{C74DA435-D1F9-4B2D-8378-4AA5271A22A2}" srcOrd="2" destOrd="0" parTransId="{DFDFBAFF-8EE3-4389-9DD8-0F702004F1AE}" sibTransId="{33AB9058-C320-4D87-8E14-63A17C37E714}"/>
    <dgm:cxn modelId="{F0046030-9EB3-9D4F-81E2-C994C1E944E0}" type="presOf" srcId="{05370259-AF27-442C-BDE2-74D52704B68C}" destId="{422259BC-C806-C54C-9681-3D2295024572}" srcOrd="0" destOrd="0" presId="urn:microsoft.com/office/officeart/2005/8/layout/vList2"/>
    <dgm:cxn modelId="{D95EED30-C9C5-384F-AEFB-AEEC0ADCB7B5}" type="presOf" srcId="{CFA42A11-375C-48FF-8A23-1E71DAD30C70}" destId="{B6091555-B9F9-E548-9782-9ACEAFA7B0DB}" srcOrd="0" destOrd="0" presId="urn:microsoft.com/office/officeart/2005/8/layout/vList2"/>
    <dgm:cxn modelId="{95DE9F6D-4ECB-4C9D-9370-EC08589A44B9}" srcId="{05370259-AF27-442C-BDE2-74D52704B68C}" destId="{D2B2F86B-D572-4714-ABA8-792CBA852A4B}" srcOrd="0" destOrd="0" parTransId="{C560CBA8-4EE6-4514-9A52-18A65454C004}" sibTransId="{50038A04-1322-4146-B836-C6574BBB30E0}"/>
    <dgm:cxn modelId="{31CC62E8-5175-4A00-A9D4-EA2C0631D33F}" srcId="{05370259-AF27-442C-BDE2-74D52704B68C}" destId="{CFA42A11-375C-48FF-8A23-1E71DAD30C70}" srcOrd="1" destOrd="0" parTransId="{7C29B8E8-E871-4A86-8DC6-80836CF157A2}" sibTransId="{B79D8CA3-1F85-476F-8CB3-28A5A3D8BBCF}"/>
    <dgm:cxn modelId="{5D8404C7-DD35-824A-B51B-1922F17E2418}" type="presParOf" srcId="{422259BC-C806-C54C-9681-3D2295024572}" destId="{7B242D85-611E-F543-AC74-8E3825F3A665}" srcOrd="0" destOrd="0" presId="urn:microsoft.com/office/officeart/2005/8/layout/vList2"/>
    <dgm:cxn modelId="{570E6C82-8AAB-7D44-AB44-7B7CDDAABA39}" type="presParOf" srcId="{422259BC-C806-C54C-9681-3D2295024572}" destId="{63790E8E-16F4-9F4D-BB10-0B0C4331D7DF}" srcOrd="1" destOrd="0" presId="urn:microsoft.com/office/officeart/2005/8/layout/vList2"/>
    <dgm:cxn modelId="{93360E2F-E27B-6D44-8DFA-BDE697A4BEB2}" type="presParOf" srcId="{422259BC-C806-C54C-9681-3D2295024572}" destId="{B6091555-B9F9-E548-9782-9ACEAFA7B0DB}" srcOrd="2" destOrd="0" presId="urn:microsoft.com/office/officeart/2005/8/layout/vList2"/>
    <dgm:cxn modelId="{4944124E-989C-6B49-B6E7-FE89A3D8BE84}" type="presParOf" srcId="{422259BC-C806-C54C-9681-3D2295024572}" destId="{E7A973ED-9D08-354B-A8F8-E95E4CFFEE1F}" srcOrd="3" destOrd="0" presId="urn:microsoft.com/office/officeart/2005/8/layout/vList2"/>
    <dgm:cxn modelId="{C32199EC-D770-CD47-80F4-CAC00699E08E}" type="presParOf" srcId="{422259BC-C806-C54C-9681-3D2295024572}" destId="{B08ED509-D2A3-0C4A-A690-E3F756E12FC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242D85-611E-F543-AC74-8E3825F3A665}">
      <dsp:nvSpPr>
        <dsp:cNvPr id="0" name=""/>
        <dsp:cNvSpPr/>
      </dsp:nvSpPr>
      <dsp:spPr>
        <a:xfrm>
          <a:off x="0" y="926041"/>
          <a:ext cx="62636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Consent/Waiver</a:t>
          </a:r>
        </a:p>
      </dsp:txBody>
      <dsp:txXfrm>
        <a:off x="55030" y="981071"/>
        <a:ext cx="6153580" cy="1017235"/>
      </dsp:txXfrm>
    </dsp:sp>
    <dsp:sp modelId="{B6091555-B9F9-E548-9782-9ACEAFA7B0DB}">
      <dsp:nvSpPr>
        <dsp:cNvPr id="0" name=""/>
        <dsp:cNvSpPr/>
      </dsp:nvSpPr>
      <dsp:spPr>
        <a:xfrm>
          <a:off x="0" y="2188696"/>
          <a:ext cx="62636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Human Observer</a:t>
          </a:r>
        </a:p>
      </dsp:txBody>
      <dsp:txXfrm>
        <a:off x="55030" y="2243726"/>
        <a:ext cx="6153580" cy="1017235"/>
      </dsp:txXfrm>
    </dsp:sp>
    <dsp:sp modelId="{B08ED509-D2A3-0C4A-A690-E3F756E12FCC}">
      <dsp:nvSpPr>
        <dsp:cNvPr id="0" name=""/>
        <dsp:cNvSpPr/>
      </dsp:nvSpPr>
      <dsp:spPr>
        <a:xfrm>
          <a:off x="0" y="3451351"/>
          <a:ext cx="6263640" cy="11272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Technosocial Continuity</a:t>
          </a:r>
        </a:p>
      </dsp:txBody>
      <dsp:txXfrm>
        <a:off x="55030" y="3506381"/>
        <a:ext cx="6153580" cy="10172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408CA0-C7AB-A247-BAD3-B04F2B11AE8A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D43B1-05E8-1F49-894C-1705D053E1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726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651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Forfeiture of reasonable expectation of privacy when information disclosed to a third party</a:t>
            </a:r>
          </a:p>
          <a:p>
            <a:r>
              <a:rPr lang="en-US"/>
              <a:t>Build on Katz, Miller, Smith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97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3PD established in analog world </a:t>
            </a:r>
          </a:p>
          <a:p>
            <a:r>
              <a:rPr lang="en-US"/>
              <a:t>With proliferation of web, how should 3PD evolve?</a:t>
            </a:r>
          </a:p>
          <a:p>
            <a:endParaRPr lang="en-US"/>
          </a:p>
          <a:p>
            <a:r>
              <a:rPr lang="en-US"/>
              <a:t>Consent based on consent. Tech neutral </a:t>
            </a:r>
          </a:p>
          <a:p>
            <a:endParaRPr lang="en-US"/>
          </a:p>
          <a:p>
            <a:r>
              <a:rPr lang="en-US" err="1"/>
              <a:t>Technosocial</a:t>
            </a:r>
            <a:r>
              <a:rPr lang="en-US"/>
              <a:t> Continuity lens of digital world not analogous to bank records, but extension of physical world. Internet storage -&gt; renting physical storage space; landlord can’t waive privacy rights </a:t>
            </a:r>
          </a:p>
          <a:p>
            <a:endParaRPr lang="en-US"/>
          </a:p>
          <a:p>
            <a:r>
              <a:rPr lang="en-US"/>
              <a:t>Human Observer theory lens of why we care about privacy. Care about humans, not machines. 3PD should remain with human-involved interaction, other criteria for automated ones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542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SCOTUS found a fact pattern that crossed line</a:t>
            </a:r>
          </a:p>
          <a:p>
            <a:endParaRPr lang="en-US"/>
          </a:p>
          <a:p>
            <a:r>
              <a:rPr lang="en-US"/>
              <a:t>CSLI privacy infringing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3869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Carpenter and after 4 features</a:t>
            </a:r>
          </a:p>
          <a:p>
            <a:endParaRPr lang="en-US"/>
          </a:p>
          <a:p>
            <a:r>
              <a:rPr lang="en-US"/>
              <a:t>Voluntariness – consent/waiver</a:t>
            </a:r>
          </a:p>
          <a:p>
            <a:r>
              <a:rPr lang="en-US"/>
              <a:t>Indispensable – having phone not voluntary</a:t>
            </a:r>
          </a:p>
          <a:p>
            <a:r>
              <a:rPr lang="en-US"/>
              <a:t>Surveillance – CSLI offered complete surveillance even into otherwise private spaces </a:t>
            </a:r>
          </a:p>
          <a:p>
            <a:r>
              <a:rPr lang="en-US"/>
              <a:t>Retrospective – able to collect in past, allows otherwise impossible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11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Jonas administrator of NH prescription drug database</a:t>
            </a:r>
          </a:p>
          <a:p>
            <a:r>
              <a:rPr lang="en-US"/>
              <a:t>Refused to turn over prescription records to DEA claiming privacy violations</a:t>
            </a:r>
          </a:p>
          <a:p>
            <a:r>
              <a:rPr lang="en-US"/>
              <a:t>Sued by DOJ to compel</a:t>
            </a:r>
          </a:p>
          <a:p>
            <a:r>
              <a:rPr lang="en-US"/>
              <a:t>Court skeptical of the first prong, though I’m not convinced</a:t>
            </a:r>
          </a:p>
          <a:p>
            <a:r>
              <a:rPr lang="en-US"/>
              <a:t>At most gov could determine a medical diagnosis, so not intrusive enough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9748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Soybel</a:t>
            </a:r>
            <a:r>
              <a:rPr lang="en-US"/>
              <a:t> was a disgruntled former employee of a company</a:t>
            </a:r>
          </a:p>
          <a:p>
            <a:r>
              <a:rPr lang="en-US"/>
              <a:t>Company noticed cyberattacks against its website and looked up the IP</a:t>
            </a:r>
          </a:p>
          <a:p>
            <a:r>
              <a:rPr lang="en-US"/>
              <a:t>IP traced to </a:t>
            </a:r>
            <a:r>
              <a:rPr lang="en-US" err="1"/>
              <a:t>Soybels</a:t>
            </a:r>
            <a:r>
              <a:rPr lang="en-US"/>
              <a:t> apartment, so they turned to FBI</a:t>
            </a:r>
          </a:p>
          <a:p>
            <a:r>
              <a:rPr lang="en-US"/>
              <a:t>FBI got court order for tap and trace on </a:t>
            </a:r>
            <a:r>
              <a:rPr lang="en-US" err="1"/>
              <a:t>Soybels</a:t>
            </a:r>
            <a:r>
              <a:rPr lang="en-US"/>
              <a:t> IP</a:t>
            </a:r>
          </a:p>
          <a:p>
            <a:r>
              <a:rPr lang="en-US"/>
              <a:t>Found him</a:t>
            </a:r>
          </a:p>
          <a:p>
            <a:endParaRPr lang="en-US"/>
          </a:p>
          <a:p>
            <a:r>
              <a:rPr lang="en-US" err="1"/>
              <a:t>Soybel</a:t>
            </a:r>
            <a:r>
              <a:rPr lang="en-US"/>
              <a:t> claimed monitoring of IP should be covered by Carpenter</a:t>
            </a:r>
          </a:p>
          <a:p>
            <a:r>
              <a:rPr lang="en-US"/>
              <a:t>Applied Carpenter, act of making connection with computer completely voluntary </a:t>
            </a:r>
          </a:p>
          <a:p>
            <a:r>
              <a:rPr lang="en-US"/>
              <a:t>Level surveillance akin to phone numbers</a:t>
            </a:r>
          </a:p>
          <a:p>
            <a:r>
              <a:rPr lang="en-US"/>
              <a:t>Pen trap has no retrospection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271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 response to proliferation of rental scooters</a:t>
            </a:r>
          </a:p>
          <a:p>
            <a:r>
              <a:rPr lang="en-US"/>
              <a:t>LA regulated to collect all scooter location data</a:t>
            </a:r>
          </a:p>
          <a:p>
            <a:r>
              <a:rPr lang="en-US"/>
              <a:t>Sanchez user of rental scooters sued to block collection</a:t>
            </a:r>
          </a:p>
          <a:p>
            <a:endParaRPr lang="en-US"/>
          </a:p>
          <a:p>
            <a:r>
              <a:rPr lang="en-US"/>
              <a:t>Scooters both voluntary and dispensable </a:t>
            </a:r>
          </a:p>
          <a:p>
            <a:r>
              <a:rPr lang="en-US"/>
              <a:t>Level of surveillance aggregate and only point to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20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SCOTUS made clear carpenter narrow </a:t>
            </a:r>
          </a:p>
          <a:p>
            <a:r>
              <a:rPr lang="en-US"/>
              <a:t>Cases shown hesitancy by courts to extend Carpenter</a:t>
            </a:r>
          </a:p>
          <a:p>
            <a:endParaRPr lang="en-US"/>
          </a:p>
          <a:p>
            <a:r>
              <a:rPr lang="en-US"/>
              <a:t>That said, in an unsettled legal period</a:t>
            </a:r>
          </a:p>
          <a:p>
            <a:r>
              <a:rPr lang="en-US"/>
              <a:t>Still largely bound by 3PD from 70s</a:t>
            </a:r>
          </a:p>
          <a:p>
            <a:r>
              <a:rPr lang="en-US"/>
              <a:t>Consent/Waiver still most close, chipped away</a:t>
            </a:r>
          </a:p>
          <a:p>
            <a:r>
              <a:rPr lang="en-US" err="1"/>
              <a:t>Technosocial</a:t>
            </a:r>
            <a:r>
              <a:rPr lang="en-US"/>
              <a:t> continuity might show promise, but courts haven’t yet accepted</a:t>
            </a:r>
          </a:p>
          <a:p>
            <a:r>
              <a:rPr lang="en-US"/>
              <a:t>Human observer so far </a:t>
            </a:r>
            <a:r>
              <a:rPr lang="en-US" err="1"/>
              <a:t>resoundly</a:t>
            </a:r>
            <a:r>
              <a:rPr lang="en-US"/>
              <a:t> rejected </a:t>
            </a:r>
          </a:p>
          <a:p>
            <a:endParaRPr lang="en-US"/>
          </a:p>
          <a:p>
            <a:r>
              <a:rPr lang="en-US"/>
              <a:t>Until new SCOTUS decision or legislation, awkward status quo likely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D43B1-05E8-1F49-894C-1705D053E16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275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04D06-49FB-FB46-B265-BD27701FA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38D35-C82E-7248-AE79-8A09E006B1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4DFFC-BDE3-624B-99F1-F05887A1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EDA98-91CA-744F-8DEF-2E2C5704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900F-6C55-D343-8FEA-6D2FDB170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244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E984E-6E1D-224A-8F5C-7FCA6C3D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CD347-D744-C44C-8FA1-583B60A2EF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33F252-6CD7-ED42-80A3-B37F77996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D3BC6-674C-414C-A3F8-73AF2CC8E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4608C-53DA-6843-A173-0F4D30812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52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E78E5-B476-DE49-B70C-B8EEDCE3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3C9313-1825-CA40-BC46-A140EA6C7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FC1BA-BD51-1748-90C1-1E3EE038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D7EB7-CEB2-FE48-BC72-3ECE751B7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070A8-5430-734D-9146-80CE3DA10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204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FE29D-A1B0-4047-8F2E-6BF67E8CA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BB5FA-0549-1F47-9860-3672189B0D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6564D4-600E-A746-B29F-68AC22969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AFD64-A87E-3641-BC57-C6586600F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11E58-A363-7540-B213-13DF6A960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7DB53F-9862-B944-928F-10745402B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54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0AD05-BA07-A547-A380-1FDC0D6FC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F7AB2-4E3A-9440-9FC0-0A084C85E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9ABD7F-2E52-B348-A1FA-55BB917E2C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2A50B7-2848-374C-A371-30FBA8BCD5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070023-0009-604A-B14A-D68C592DBA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D899C5-74FB-0144-A40D-212200BD4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676A53-5D51-574F-940A-460545389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A67C26-3698-C54D-8680-DBFB24C57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2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1D9E6-FF75-1548-AD8E-D26133AE8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ECB42-752F-FE42-9AEA-B9F31CED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F9902-BF9D-BF42-A141-C8EFF590E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E7CC30-19B7-5441-9438-789E89B56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655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CCB913-3DDD-0441-9812-9DB417F9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054AC6-7227-DA44-9DB3-521AB4C14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DB6FB-33C6-A94C-B570-213594DF1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65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27EAD-060E-2E45-99D7-AF61B3876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D47AF-E236-8342-8632-1605051A6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B6D6D1-B6AB-2448-8FEE-FE22EC811A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BBBFAF-84DD-4E46-A70B-CE1415FD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97FF4-01C2-804C-9321-B0796003C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BBEE33-6B85-CB44-AB7D-6A12A653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46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7C925-B057-314A-AA7B-60801AC9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94984D-5637-4B43-A9AA-AC2B4958C5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9F64E6-31A7-1245-BBAA-DF6494E2FA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A7B65-6FAD-5946-86EB-49E602712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1E344-E450-044A-BB21-CE5DC8BC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C04C40-4B7F-9B4E-92DF-CD3A9CAE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485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F8E30-FF57-8241-8086-E59465F75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C14E5-668F-FA4F-AC45-20F7BE46F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B96D3-3ACD-D542-B352-7BE70CC98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0DADE-A913-294A-8221-B32A82374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94B12-476F-EB45-BA78-389B23532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404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7DA0E6-1090-4246-9CE8-4AF684BCF7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C1EE9-F3DE-FA45-94A6-A07A0DC6DD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1C0AC-80C0-654B-B485-EC722708C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614CE-5E26-444D-94B0-035F8BC94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3811C-F9B5-614B-9F01-9C0D26C0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393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EEA7E9-9893-874E-8574-29FD47DC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BCE5F-00DC-1E43-8C34-99E09A5F1E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F504D-62C6-A74A-998D-A1F315F132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C04BE-0A28-8C4C-9126-ADC6765C18EE}" type="datetimeFigureOut">
              <a:rPr lang="en-US" smtClean="0"/>
              <a:t>3/26/2022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78B12-19E3-A74D-B832-D2D9C4CFE2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22699D-506C-5048-87F6-C1B825E22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289FDA-483C-834A-AAA3-10BA1CECE7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280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285630-E11A-4CC4-800A-68532E743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069B0493-EC1B-42FD-A38E-D4620EA2C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5782800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F84A2-E783-5D4F-B00C-D782B1934D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48401" y="2662989"/>
            <a:ext cx="4126764" cy="2999582"/>
          </a:xfrm>
        </p:spPr>
        <p:txBody>
          <a:bodyPr anchor="ctr">
            <a:normAutofit/>
          </a:bodyPr>
          <a:lstStyle/>
          <a:p>
            <a:pPr algn="l"/>
            <a:r>
              <a:rPr lang="en-US" sz="2800">
                <a:solidFill>
                  <a:srgbClr val="FEFFFF"/>
                </a:solidFill>
              </a:rPr>
              <a:t>Andrew Smith</a:t>
            </a:r>
          </a:p>
          <a:p>
            <a:pPr algn="l"/>
            <a:r>
              <a:rPr lang="en-US" sz="2800">
                <a:solidFill>
                  <a:srgbClr val="FEFFFF"/>
                </a:solidFill>
              </a:rPr>
              <a:t>Ben Janis</a:t>
            </a:r>
          </a:p>
          <a:p>
            <a:pPr algn="l"/>
            <a:r>
              <a:rPr lang="en-US" sz="2800">
                <a:solidFill>
                  <a:srgbClr val="FEFFFF"/>
                </a:solidFill>
              </a:rPr>
              <a:t>Mihir Shah</a:t>
            </a:r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D263E12D-D6FE-41E6-98B7-EBA88FED2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6">
            <a:extLst>
              <a:ext uri="{FF2B5EF4-FFF2-40B4-BE49-F238E27FC236}">
                <a16:creationId xmlns:a16="http://schemas.microsoft.com/office/drawing/2014/main" id="{80FAEE97-8C0C-4ED5-BC7D-C6870947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5BFAC9A7-CED6-40CD-BC73-6B06ECAC2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880D38C5-CFB9-4498-AD9C-38B2BBF6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99168" y="1126737"/>
            <a:ext cx="5795510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CCAE49-6E44-0744-9F07-8C3B947B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0245" y="1448470"/>
            <a:ext cx="5291317" cy="2870805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The Third-Party Doctrine Post-</a:t>
            </a:r>
            <a:r>
              <a:rPr lang="en-US" sz="4800" i="1">
                <a:solidFill>
                  <a:srgbClr val="FFFFFF"/>
                </a:solidFill>
              </a:rPr>
              <a:t>Carpenter</a:t>
            </a:r>
          </a:p>
        </p:txBody>
      </p:sp>
    </p:spTree>
    <p:extLst>
      <p:ext uri="{BB962C8B-B14F-4D97-AF65-F5344CB8AC3E}">
        <p14:creationId xmlns:p14="http://schemas.microsoft.com/office/powerpoint/2010/main" val="50097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3F7F520D-813F-4AB8-A88C-70F2B34D54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75251FC-BDEA-4BBB-A75B-0696FB884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125" y="0"/>
            <a:ext cx="11166368" cy="6857998"/>
          </a:xfrm>
          <a:prstGeom prst="rect">
            <a:avLst/>
          </a:prstGeom>
          <a:solidFill>
            <a:schemeClr val="bg1">
              <a:lumMod val="85000"/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F6AC8-DE93-42EE-BBAE-B6324FFAC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873418" y="44817"/>
            <a:ext cx="233303" cy="772404"/>
            <a:chOff x="11869875" y="44817"/>
            <a:chExt cx="233303" cy="772404"/>
          </a:xfrm>
        </p:grpSpPr>
        <p:sp>
          <p:nvSpPr>
            <p:cNvPr id="12" name="Rectangle 64">
              <a:extLst>
                <a:ext uri="{FF2B5EF4-FFF2-40B4-BE49-F238E27FC236}">
                  <a16:creationId xmlns:a16="http://schemas.microsoft.com/office/drawing/2014/main" id="{6441AB31-5A6F-486C-8AE8-6E04398B3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0062" y="46121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66">
              <a:extLst>
                <a:ext uri="{FF2B5EF4-FFF2-40B4-BE49-F238E27FC236}">
                  <a16:creationId xmlns:a16="http://schemas.microsoft.com/office/drawing/2014/main" id="{29669355-73FD-40E2-9E44-DC03FBA9C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572" y="4612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64">
              <a:extLst>
                <a:ext uri="{FF2B5EF4-FFF2-40B4-BE49-F238E27FC236}">
                  <a16:creationId xmlns:a16="http://schemas.microsoft.com/office/drawing/2014/main" id="{9ECB0561-E50E-4875-8B82-440516077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2648" y="75669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66">
              <a:extLst>
                <a:ext uri="{FF2B5EF4-FFF2-40B4-BE49-F238E27FC236}">
                  <a16:creationId xmlns:a16="http://schemas.microsoft.com/office/drawing/2014/main" id="{C32EDEC5-1B46-4575-8975-3286C4743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912" y="756690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64">
              <a:extLst>
                <a:ext uri="{FF2B5EF4-FFF2-40B4-BE49-F238E27FC236}">
                  <a16:creationId xmlns:a16="http://schemas.microsoft.com/office/drawing/2014/main" id="{BDFBD4DE-5B85-4C02-876E-4364399C82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2648" y="61457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66">
              <a:extLst>
                <a:ext uri="{FF2B5EF4-FFF2-40B4-BE49-F238E27FC236}">
                  <a16:creationId xmlns:a16="http://schemas.microsoft.com/office/drawing/2014/main" id="{F964221E-D757-45C1-B24B-967DE6319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912" y="614576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64">
              <a:extLst>
                <a:ext uri="{FF2B5EF4-FFF2-40B4-BE49-F238E27FC236}">
                  <a16:creationId xmlns:a16="http://schemas.microsoft.com/office/drawing/2014/main" id="{62854498-7E09-404F-8D8B-4022EB1C9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2648" y="47246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66">
              <a:extLst>
                <a:ext uri="{FF2B5EF4-FFF2-40B4-BE49-F238E27FC236}">
                  <a16:creationId xmlns:a16="http://schemas.microsoft.com/office/drawing/2014/main" id="{AD82220A-E645-4062-A26A-DF19F2E11A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912" y="472462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64">
              <a:extLst>
                <a:ext uri="{FF2B5EF4-FFF2-40B4-BE49-F238E27FC236}">
                  <a16:creationId xmlns:a16="http://schemas.microsoft.com/office/drawing/2014/main" id="{366B8029-4DAB-439E-B861-E11E5AA3A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2648" y="33034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66">
              <a:extLst>
                <a:ext uri="{FF2B5EF4-FFF2-40B4-BE49-F238E27FC236}">
                  <a16:creationId xmlns:a16="http://schemas.microsoft.com/office/drawing/2014/main" id="{869215D8-066B-481E-A2FB-9D6DB4EB6C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912" y="330348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64">
              <a:extLst>
                <a:ext uri="{FF2B5EF4-FFF2-40B4-BE49-F238E27FC236}">
                  <a16:creationId xmlns:a16="http://schemas.microsoft.com/office/drawing/2014/main" id="{B07A2094-FE71-4F84-8589-31B213FEC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042648" y="18823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66">
              <a:extLst>
                <a:ext uri="{FF2B5EF4-FFF2-40B4-BE49-F238E27FC236}">
                  <a16:creationId xmlns:a16="http://schemas.microsoft.com/office/drawing/2014/main" id="{52C000FC-4146-4B1A-8CFF-26FFF1C7E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868912" y="188234"/>
              <a:ext cx="61834" cy="592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09096C9F-D4A4-4FDA-B7E7-8D8330194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33939" y="1294357"/>
            <a:ext cx="10011089" cy="42998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1172D0-DAE3-4130-9009-0B02351A54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925" y="3505936"/>
            <a:ext cx="2177162" cy="2367104"/>
            <a:chOff x="687925" y="3505936"/>
            <a:chExt cx="2177162" cy="2367104"/>
          </a:xfrm>
        </p:grpSpPr>
        <p:sp>
          <p:nvSpPr>
            <p:cNvPr id="28" name="Rectangle 66">
              <a:extLst>
                <a:ext uri="{FF2B5EF4-FFF2-40B4-BE49-F238E27FC236}">
                  <a16:creationId xmlns:a16="http://schemas.microsoft.com/office/drawing/2014/main" id="{E6EE5CBA-2D94-4CCF-BE0B-DC97A6B49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352155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66">
              <a:extLst>
                <a:ext uri="{FF2B5EF4-FFF2-40B4-BE49-F238E27FC236}">
                  <a16:creationId xmlns:a16="http://schemas.microsoft.com/office/drawing/2014/main" id="{5347D002-C822-4662-BECD-704DDCA78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210041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66">
              <a:extLst>
                <a:ext uri="{FF2B5EF4-FFF2-40B4-BE49-F238E27FC236}">
                  <a16:creationId xmlns:a16="http://schemas.microsoft.com/office/drawing/2014/main" id="{2AFA2F2E-EFC8-4E70-87F4-4269B96E7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06792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66">
              <a:extLst>
                <a:ext uri="{FF2B5EF4-FFF2-40B4-BE49-F238E27FC236}">
                  <a16:creationId xmlns:a16="http://schemas.microsoft.com/office/drawing/2014/main" id="{BBB7EABB-8135-4B8E-BF0C-A7C891E3A7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392581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36B100CF-968D-4856-95C0-C72FD2DC5D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77849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Rectangle 66">
              <a:extLst>
                <a:ext uri="{FF2B5EF4-FFF2-40B4-BE49-F238E27FC236}">
                  <a16:creationId xmlns:a16="http://schemas.microsoft.com/office/drawing/2014/main" id="{F75765D6-C293-4ACF-BD5E-BB66EF7570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63638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66">
              <a:extLst>
                <a:ext uri="{FF2B5EF4-FFF2-40B4-BE49-F238E27FC236}">
                  <a16:creationId xmlns:a16="http://schemas.microsoft.com/office/drawing/2014/main" id="{4CFF6D54-51B6-4120-A74E-41A729458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49426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66">
              <a:extLst>
                <a:ext uri="{FF2B5EF4-FFF2-40B4-BE49-F238E27FC236}">
                  <a16:creationId xmlns:a16="http://schemas.microsoft.com/office/drawing/2014/main" id="{62EE344F-8E78-473F-8CD3-E6D1B66AA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352154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66">
              <a:extLst>
                <a:ext uri="{FF2B5EF4-FFF2-40B4-BE49-F238E27FC236}">
                  <a16:creationId xmlns:a16="http://schemas.microsoft.com/office/drawing/2014/main" id="{72E173FC-1DF7-4951-906C-1390F27C2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210040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66">
              <a:extLst>
                <a:ext uri="{FF2B5EF4-FFF2-40B4-BE49-F238E27FC236}">
                  <a16:creationId xmlns:a16="http://schemas.microsoft.com/office/drawing/2014/main" id="{C709EA9D-08FD-4F76-A336-772250C7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06792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66">
              <a:extLst>
                <a:ext uri="{FF2B5EF4-FFF2-40B4-BE49-F238E27FC236}">
                  <a16:creationId xmlns:a16="http://schemas.microsoft.com/office/drawing/2014/main" id="{8C5FFEDC-1BC0-4CB0-9FD4-EDE7AF4C3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63638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66">
              <a:extLst>
                <a:ext uri="{FF2B5EF4-FFF2-40B4-BE49-F238E27FC236}">
                  <a16:creationId xmlns:a16="http://schemas.microsoft.com/office/drawing/2014/main" id="{D6A72BC6-FA35-4F45-A7BA-0BEB7B20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494268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66">
              <a:extLst>
                <a:ext uri="{FF2B5EF4-FFF2-40B4-BE49-F238E27FC236}">
                  <a16:creationId xmlns:a16="http://schemas.microsoft.com/office/drawing/2014/main" id="{919B69A1-EBB1-45F8-8791-016BCF7B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391809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66">
              <a:extLst>
                <a:ext uri="{FF2B5EF4-FFF2-40B4-BE49-F238E27FC236}">
                  <a16:creationId xmlns:a16="http://schemas.microsoft.com/office/drawing/2014/main" id="{0B530BD1-86A8-414D-A004-D9954B038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3783698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59">
              <a:extLst>
                <a:ext uri="{FF2B5EF4-FFF2-40B4-BE49-F238E27FC236}">
                  <a16:creationId xmlns:a16="http://schemas.microsoft.com/office/drawing/2014/main" id="{FAE5BC0C-0D05-49E2-9DB9-54049A23EC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492193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62">
              <a:extLst>
                <a:ext uri="{FF2B5EF4-FFF2-40B4-BE49-F238E27FC236}">
                  <a16:creationId xmlns:a16="http://schemas.microsoft.com/office/drawing/2014/main" id="{5CE98A12-A684-4846-B6C3-F2A43AC2AD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92193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59">
              <a:extLst>
                <a:ext uri="{FF2B5EF4-FFF2-40B4-BE49-F238E27FC236}">
                  <a16:creationId xmlns:a16="http://schemas.microsoft.com/office/drawing/2014/main" id="{28A5BB04-DD41-49FE-8387-318BCC75B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477539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62">
              <a:extLst>
                <a:ext uri="{FF2B5EF4-FFF2-40B4-BE49-F238E27FC236}">
                  <a16:creationId xmlns:a16="http://schemas.microsoft.com/office/drawing/2014/main" id="{3EE3B3CB-71BA-44FD-B0E4-D9A61B573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3506465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64">
              <a:extLst>
                <a:ext uri="{FF2B5EF4-FFF2-40B4-BE49-F238E27FC236}">
                  <a16:creationId xmlns:a16="http://schemas.microsoft.com/office/drawing/2014/main" id="{B1C7399A-7B9C-42BB-A79E-51653F21C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3506465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59">
              <a:extLst>
                <a:ext uri="{FF2B5EF4-FFF2-40B4-BE49-F238E27FC236}">
                  <a16:creationId xmlns:a16="http://schemas.microsoft.com/office/drawing/2014/main" id="{413FA7F4-41B4-4942-83F6-8B7A99306A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364324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62">
              <a:extLst>
                <a:ext uri="{FF2B5EF4-FFF2-40B4-BE49-F238E27FC236}">
                  <a16:creationId xmlns:a16="http://schemas.microsoft.com/office/drawing/2014/main" id="{A781A10B-D948-4231-B95B-3717ABD5D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364324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59">
              <a:extLst>
                <a:ext uri="{FF2B5EF4-FFF2-40B4-BE49-F238E27FC236}">
                  <a16:creationId xmlns:a16="http://schemas.microsoft.com/office/drawing/2014/main" id="{ED823F90-3595-4102-9F05-3F640079C4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3790310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59">
              <a:extLst>
                <a:ext uri="{FF2B5EF4-FFF2-40B4-BE49-F238E27FC236}">
                  <a16:creationId xmlns:a16="http://schemas.microsoft.com/office/drawing/2014/main" id="{072EE8BA-C999-40B7-8E23-682F60AE2B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07389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62">
              <a:extLst>
                <a:ext uri="{FF2B5EF4-FFF2-40B4-BE49-F238E27FC236}">
                  <a16:creationId xmlns:a16="http://schemas.microsoft.com/office/drawing/2014/main" id="{09B345B3-4E84-41B3-B95F-6C9DA80847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07389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9">
              <a:extLst>
                <a:ext uri="{FF2B5EF4-FFF2-40B4-BE49-F238E27FC236}">
                  <a16:creationId xmlns:a16="http://schemas.microsoft.com/office/drawing/2014/main" id="{8C487E2F-6F42-4A25-966B-9B02CF4C0F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22129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62">
              <a:extLst>
                <a:ext uri="{FF2B5EF4-FFF2-40B4-BE49-F238E27FC236}">
                  <a16:creationId xmlns:a16="http://schemas.microsoft.com/office/drawing/2014/main" id="{6D86BDF0-16A6-4CE2-98EB-8C2C5D382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22129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66">
              <a:extLst>
                <a:ext uri="{FF2B5EF4-FFF2-40B4-BE49-F238E27FC236}">
                  <a16:creationId xmlns:a16="http://schemas.microsoft.com/office/drawing/2014/main" id="{27929C7D-FFA5-4CF1-BF99-B4694DFC04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36893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9">
              <a:extLst>
                <a:ext uri="{FF2B5EF4-FFF2-40B4-BE49-F238E27FC236}">
                  <a16:creationId xmlns:a16="http://schemas.microsoft.com/office/drawing/2014/main" id="{2622FE45-29EC-40C6-8756-57127608B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51236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62">
              <a:extLst>
                <a:ext uri="{FF2B5EF4-FFF2-40B4-BE49-F238E27FC236}">
                  <a16:creationId xmlns:a16="http://schemas.microsoft.com/office/drawing/2014/main" id="{3DBACFBF-2B6F-42DE-A4C1-24F9CB77B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51236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Rectangle 59">
              <a:extLst>
                <a:ext uri="{FF2B5EF4-FFF2-40B4-BE49-F238E27FC236}">
                  <a16:creationId xmlns:a16="http://schemas.microsoft.com/office/drawing/2014/main" id="{7E00D7AA-B9A3-43BE-A9C7-2DEF2F8F89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36582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8" name="Rectangle 2">
              <a:extLst>
                <a:ext uri="{FF2B5EF4-FFF2-40B4-BE49-F238E27FC236}">
                  <a16:creationId xmlns:a16="http://schemas.microsoft.com/office/drawing/2014/main" id="{AD9C42ED-BB25-42B5-A22D-938ED17197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766051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9">
              <a:extLst>
                <a:ext uri="{FF2B5EF4-FFF2-40B4-BE49-F238E27FC236}">
                  <a16:creationId xmlns:a16="http://schemas.microsoft.com/office/drawing/2014/main" id="{F56D4244-BB50-4726-8F99-AF9734E04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584933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62">
              <a:extLst>
                <a:ext uri="{FF2B5EF4-FFF2-40B4-BE49-F238E27FC236}">
                  <a16:creationId xmlns:a16="http://schemas.microsoft.com/office/drawing/2014/main" id="{56A6F39E-0EBB-4392-90BB-2590C81F47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03813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Rectangle 64">
              <a:extLst>
                <a:ext uri="{FF2B5EF4-FFF2-40B4-BE49-F238E27FC236}">
                  <a16:creationId xmlns:a16="http://schemas.microsoft.com/office/drawing/2014/main" id="{45B09FF7-8FBE-4F42-8275-8E56C32C2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22694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Rectangle 66">
              <a:extLst>
                <a:ext uri="{FF2B5EF4-FFF2-40B4-BE49-F238E27FC236}">
                  <a16:creationId xmlns:a16="http://schemas.microsoft.com/office/drawing/2014/main" id="{FC78768D-9FA0-45A3-9686-473894D876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41575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4">
              <a:extLst>
                <a:ext uri="{FF2B5EF4-FFF2-40B4-BE49-F238E27FC236}">
                  <a16:creationId xmlns:a16="http://schemas.microsoft.com/office/drawing/2014/main" id="{03C6263C-2F04-4160-BAB3-93F166039B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113298" y="566300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Rectangle 66">
              <a:extLst>
                <a:ext uri="{FF2B5EF4-FFF2-40B4-BE49-F238E27FC236}">
                  <a16:creationId xmlns:a16="http://schemas.microsoft.com/office/drawing/2014/main" id="{7D54F6C2-0EC0-4D1C-A121-563C1B3ED7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932179" y="566300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Rectangle 59">
              <a:extLst>
                <a:ext uri="{FF2B5EF4-FFF2-40B4-BE49-F238E27FC236}">
                  <a16:creationId xmlns:a16="http://schemas.microsoft.com/office/drawing/2014/main" id="{E35A171E-850C-4714-A0A4-6CD1830596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66432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2">
              <a:extLst>
                <a:ext uri="{FF2B5EF4-FFF2-40B4-BE49-F238E27FC236}">
                  <a16:creationId xmlns:a16="http://schemas.microsoft.com/office/drawing/2014/main" id="{745EB765-69E1-4FB7-BEA0-AF2F04919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664329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Rectangle 2">
              <a:extLst>
                <a:ext uri="{FF2B5EF4-FFF2-40B4-BE49-F238E27FC236}">
                  <a16:creationId xmlns:a16="http://schemas.microsoft.com/office/drawing/2014/main" id="{83F43793-41FE-49A7-9F05-3D49899A45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456536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ectangle 59">
              <a:extLst>
                <a:ext uri="{FF2B5EF4-FFF2-40B4-BE49-F238E27FC236}">
                  <a16:creationId xmlns:a16="http://schemas.microsoft.com/office/drawing/2014/main" id="{B0A53DAF-BC4D-4849-800D-538D222074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75417" y="5663006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ectangle 64">
              <a:extLst>
                <a:ext uri="{FF2B5EF4-FFF2-40B4-BE49-F238E27FC236}">
                  <a16:creationId xmlns:a16="http://schemas.microsoft.com/office/drawing/2014/main" id="{D1A1C417-39D0-4ED4-B74E-9F19F25DE3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03783" y="566300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ectangle 66">
              <a:extLst>
                <a:ext uri="{FF2B5EF4-FFF2-40B4-BE49-F238E27FC236}">
                  <a16:creationId xmlns:a16="http://schemas.microsoft.com/office/drawing/2014/main" id="{8826C125-5D9A-4D06-A2C9-389A73700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622663" y="5663007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ectangle 2">
              <a:extLst>
                <a:ext uri="{FF2B5EF4-FFF2-40B4-BE49-F238E27FC236}">
                  <a16:creationId xmlns:a16="http://schemas.microsoft.com/office/drawing/2014/main" id="{F5596270-3998-4D23-86B6-85A6B62BF5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762372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Rectangle 59">
              <a:extLst>
                <a:ext uri="{FF2B5EF4-FFF2-40B4-BE49-F238E27FC236}">
                  <a16:creationId xmlns:a16="http://schemas.microsoft.com/office/drawing/2014/main" id="{021CC68A-939D-4235-B3EA-88498DC23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581254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62">
              <a:extLst>
                <a:ext uri="{FF2B5EF4-FFF2-40B4-BE49-F238E27FC236}">
                  <a16:creationId xmlns:a16="http://schemas.microsoft.com/office/drawing/2014/main" id="{394C50BF-C63F-475F-9198-B637A832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400134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Rectangle 64">
              <a:extLst>
                <a:ext uri="{FF2B5EF4-FFF2-40B4-BE49-F238E27FC236}">
                  <a16:creationId xmlns:a16="http://schemas.microsoft.com/office/drawing/2014/main" id="{F74B5CFE-DE1E-470F-82D6-6BCDE5C4DA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219016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66">
              <a:extLst>
                <a:ext uri="{FF2B5EF4-FFF2-40B4-BE49-F238E27FC236}">
                  <a16:creationId xmlns:a16="http://schemas.microsoft.com/office/drawing/2014/main" id="{5DDA4EA2-B7AB-46E9-9246-FC23E722B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037896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64">
              <a:extLst>
                <a:ext uri="{FF2B5EF4-FFF2-40B4-BE49-F238E27FC236}">
                  <a16:creationId xmlns:a16="http://schemas.microsoft.com/office/drawing/2014/main" id="{A2DE2AF5-13E8-4174-9EC4-724DEB88DC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109620" y="581041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66">
              <a:extLst>
                <a:ext uri="{FF2B5EF4-FFF2-40B4-BE49-F238E27FC236}">
                  <a16:creationId xmlns:a16="http://schemas.microsoft.com/office/drawing/2014/main" id="{360555BC-5949-427F-B107-D944CA221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928500" y="581041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59">
              <a:extLst>
                <a:ext uri="{FF2B5EF4-FFF2-40B4-BE49-F238E27FC236}">
                  <a16:creationId xmlns:a16="http://schemas.microsoft.com/office/drawing/2014/main" id="{F6C67CEF-7906-4D52-B541-B06109BE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861132" y="5811735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Rectangle 62">
              <a:extLst>
                <a:ext uri="{FF2B5EF4-FFF2-40B4-BE49-F238E27FC236}">
                  <a16:creationId xmlns:a16="http://schemas.microsoft.com/office/drawing/2014/main" id="{13551754-DE8E-4F60-B17A-3592B8E79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687396" y="5811735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Rectangle 2">
              <a:extLst>
                <a:ext uri="{FF2B5EF4-FFF2-40B4-BE49-F238E27FC236}">
                  <a16:creationId xmlns:a16="http://schemas.microsoft.com/office/drawing/2014/main" id="{D7B0D877-545F-4CA5-BB7B-A21E413CD5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452857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1" name="Rectangle 59">
              <a:extLst>
                <a:ext uri="{FF2B5EF4-FFF2-40B4-BE49-F238E27FC236}">
                  <a16:creationId xmlns:a16="http://schemas.microsoft.com/office/drawing/2014/main" id="{D25743C3-6C94-4F58-83A5-5F610DA5D3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271738" y="5810412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2" name="Rectangle 64">
              <a:extLst>
                <a:ext uri="{FF2B5EF4-FFF2-40B4-BE49-F238E27FC236}">
                  <a16:creationId xmlns:a16="http://schemas.microsoft.com/office/drawing/2014/main" id="{3CD412E9-0E9C-460C-9FC6-C765F5BCC3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00104" y="581041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Rectangle 66">
              <a:extLst>
                <a:ext uri="{FF2B5EF4-FFF2-40B4-BE49-F238E27FC236}">
                  <a16:creationId xmlns:a16="http://schemas.microsoft.com/office/drawing/2014/main" id="{B26AB043-5417-4498-90CE-3A7C36B09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618985" y="5810413"/>
              <a:ext cx="61834" cy="607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81C4D4-F667-BD41-A575-47BDF32E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3677" y="1523998"/>
            <a:ext cx="8628920" cy="38413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the Third-Party Doctrine?</a:t>
            </a:r>
          </a:p>
        </p:txBody>
      </p:sp>
    </p:spTree>
    <p:extLst>
      <p:ext uri="{BB962C8B-B14F-4D97-AF65-F5344CB8AC3E}">
        <p14:creationId xmlns:p14="http://schemas.microsoft.com/office/powerpoint/2010/main" val="700433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CB2E16-1058-4F46-88A3-B4F20388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US" sz="5200"/>
              <a:t>Third Party Doctrine Theories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17F349D-BDB1-BB81-4D78-9FB3890A4B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031966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56637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B26EE4FD-480F-42A5-9FEB-DA630457C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5">
            <a:extLst>
              <a:ext uri="{FF2B5EF4-FFF2-40B4-BE49-F238E27FC236}">
                <a16:creationId xmlns:a16="http://schemas.microsoft.com/office/drawing/2014/main" id="{A187062F-BE14-42FC-B06A-607DB23849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2688" y="1766812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6">
            <a:extLst>
              <a:ext uri="{FF2B5EF4-FFF2-40B4-BE49-F238E27FC236}">
                <a16:creationId xmlns:a16="http://schemas.microsoft.com/office/drawing/2014/main" id="{731FE21B-2A45-4BF5-8B03-E12341988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842689" y="1423780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2DC5A94D-79ED-48F5-9DC5-96CBB507C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183243" y="1239381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Rectangle 8">
            <a:extLst>
              <a:ext uri="{FF2B5EF4-FFF2-40B4-BE49-F238E27FC236}">
                <a16:creationId xmlns:a16="http://schemas.microsoft.com/office/drawing/2014/main" id="{93A3D4BE-AF25-4F9A-9C29-1145CCE24A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>
            <a:off x="1183242" y="1230651"/>
            <a:ext cx="10208658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C9302B-88F1-2B4F-B81E-1478BD03B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997" y="1607809"/>
            <a:ext cx="9236026" cy="28766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i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Carpenter v. United States</a:t>
            </a:r>
            <a:r>
              <a:rPr lang="en-US" sz="6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(2018)</a:t>
            </a:r>
            <a:endParaRPr lang="en-US" sz="6600" i="1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8506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705B51-1E3C-A441-A5F3-30D0DD5D2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977976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</a:rPr>
              <a:t>Carpenter Test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3F86A48-6921-BF46-8949-5ABF806AE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4672" y="2421682"/>
            <a:ext cx="4977578" cy="3639289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3200">
                <a:solidFill>
                  <a:schemeClr val="tx2"/>
                </a:solidFill>
              </a:rPr>
              <a:t>Method of disclosure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>
                <a:solidFill>
                  <a:schemeClr val="tx2"/>
                </a:solidFill>
              </a:rPr>
              <a:t>Voluntariness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 sz="2800">
                <a:solidFill>
                  <a:schemeClr val="tx2"/>
                </a:solidFill>
              </a:rPr>
              <a:t>Indispensability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3200">
                <a:solidFill>
                  <a:schemeClr val="tx2"/>
                </a:solidFill>
              </a:rPr>
              <a:t>Nature of information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800">
                <a:solidFill>
                  <a:schemeClr val="tx2"/>
                </a:solidFill>
              </a:rPr>
              <a:t>Level of surveillance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 sz="2800">
                <a:solidFill>
                  <a:schemeClr val="tx2"/>
                </a:solidFill>
              </a:rPr>
              <a:t>Retrospective quality</a:t>
            </a:r>
          </a:p>
          <a:p>
            <a:pPr marL="914400" lvl="1" indent="-457200">
              <a:buFont typeface="+mj-lt"/>
              <a:buAutoNum type="alphaLcPeriod"/>
            </a:pPr>
            <a:endParaRPr lang="en-US" sz="3200">
              <a:solidFill>
                <a:schemeClr val="tx2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Gavel">
            <a:extLst>
              <a:ext uri="{FF2B5EF4-FFF2-40B4-BE49-F238E27FC236}">
                <a16:creationId xmlns:a16="http://schemas.microsoft.com/office/drawing/2014/main" id="{BBED91F1-149D-5454-D39B-296D6886B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62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B76C3-8F4A-C542-8D98-03D886EC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i="1">
                <a:solidFill>
                  <a:srgbClr val="FFFFFF"/>
                </a:solidFill>
              </a:rPr>
              <a:t>United States </a:t>
            </a:r>
            <a:r>
              <a:rPr lang="en-US" sz="4000" i="1" err="1">
                <a:solidFill>
                  <a:srgbClr val="FFFFFF"/>
                </a:solidFill>
              </a:rPr>
              <a:t>Dep't</a:t>
            </a:r>
            <a:r>
              <a:rPr lang="en-US" sz="4000" i="1">
                <a:solidFill>
                  <a:srgbClr val="FFFFFF"/>
                </a:solidFill>
              </a:rPr>
              <a:t> of Just. v. Ricco Jonas</a:t>
            </a:r>
            <a:r>
              <a:rPr lang="en-US" sz="4000">
                <a:solidFill>
                  <a:srgbClr val="FFFFFF"/>
                </a:solidFill>
              </a:rPr>
              <a:t> (2022)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AA76-EA75-8542-A5AE-D717C77B2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/>
              <a:t>Method of disclosure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Voluntariness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Indispensability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Nature of information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Level of surveillance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Retrospective quality</a:t>
            </a:r>
          </a:p>
        </p:txBody>
      </p:sp>
      <p:sp>
        <p:nvSpPr>
          <p:cNvPr id="4" name="&quot;No&quot; Symbol 3">
            <a:extLst>
              <a:ext uri="{FF2B5EF4-FFF2-40B4-BE49-F238E27FC236}">
                <a16:creationId xmlns:a16="http://schemas.microsoft.com/office/drawing/2014/main" id="{515A7162-51A4-6242-9C96-2E21667EA0FC}"/>
              </a:ext>
            </a:extLst>
          </p:cNvPr>
          <p:cNvSpPr>
            <a:spLocks noChangeAspect="1"/>
          </p:cNvSpPr>
          <p:nvPr/>
        </p:nvSpPr>
        <p:spPr>
          <a:xfrm>
            <a:off x="1475875" y="4699138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Punched Tape 4">
            <a:extLst>
              <a:ext uri="{FF2B5EF4-FFF2-40B4-BE49-F238E27FC236}">
                <a16:creationId xmlns:a16="http://schemas.microsoft.com/office/drawing/2014/main" id="{38DEF783-17CD-2342-A9B7-EAA21DCF0277}"/>
              </a:ext>
            </a:extLst>
          </p:cNvPr>
          <p:cNvSpPr/>
          <p:nvPr/>
        </p:nvSpPr>
        <p:spPr>
          <a:xfrm>
            <a:off x="1475875" y="3597965"/>
            <a:ext cx="365760" cy="147350"/>
          </a:xfrm>
          <a:prstGeom prst="flowChartPunchedTap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unched Tape 12">
            <a:extLst>
              <a:ext uri="{FF2B5EF4-FFF2-40B4-BE49-F238E27FC236}">
                <a16:creationId xmlns:a16="http://schemas.microsoft.com/office/drawing/2014/main" id="{16FC01A6-69CA-4D43-8D95-735F582C0A7A}"/>
              </a:ext>
            </a:extLst>
          </p:cNvPr>
          <p:cNvSpPr/>
          <p:nvPr/>
        </p:nvSpPr>
        <p:spPr>
          <a:xfrm>
            <a:off x="1475875" y="3984904"/>
            <a:ext cx="365760" cy="147350"/>
          </a:xfrm>
          <a:prstGeom prst="flowChartPunchedTap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80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B76C3-8F4A-C542-8D98-03D886EC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r>
              <a:rPr lang="en-US" sz="4000" i="1">
                <a:solidFill>
                  <a:schemeClr val="bg1"/>
                </a:solidFill>
              </a:rPr>
              <a:t>United States v. </a:t>
            </a:r>
            <a:r>
              <a:rPr lang="en-US" sz="4000" i="1" err="1">
                <a:solidFill>
                  <a:schemeClr val="bg1"/>
                </a:solidFill>
              </a:rPr>
              <a:t>Soybel</a:t>
            </a:r>
            <a:r>
              <a:rPr lang="en-US" sz="4000">
                <a:solidFill>
                  <a:schemeClr val="bg1"/>
                </a:solidFill>
              </a:rPr>
              <a:t> (2021)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AA76-EA75-8542-A5AE-D717C77B2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/>
              <a:t>Method of disclosure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Voluntariness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Indispensability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Nature of information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Level of surveillance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Retrospective quality</a:t>
            </a:r>
          </a:p>
        </p:txBody>
      </p:sp>
      <p:sp>
        <p:nvSpPr>
          <p:cNvPr id="11" name="&quot;No&quot; Symbol 10">
            <a:extLst>
              <a:ext uri="{FF2B5EF4-FFF2-40B4-BE49-F238E27FC236}">
                <a16:creationId xmlns:a16="http://schemas.microsoft.com/office/drawing/2014/main" id="{60C1624F-624D-A44B-BE1E-4B075BDF46C8}"/>
              </a:ext>
            </a:extLst>
          </p:cNvPr>
          <p:cNvSpPr>
            <a:spLocks noChangeAspect="1"/>
          </p:cNvSpPr>
          <p:nvPr/>
        </p:nvSpPr>
        <p:spPr>
          <a:xfrm>
            <a:off x="1475875" y="4699138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12">
            <a:extLst>
              <a:ext uri="{FF2B5EF4-FFF2-40B4-BE49-F238E27FC236}">
                <a16:creationId xmlns:a16="http://schemas.microsoft.com/office/drawing/2014/main" id="{6184A9CC-9900-BC41-9A5C-F1A1AC0C5D4C}"/>
              </a:ext>
            </a:extLst>
          </p:cNvPr>
          <p:cNvSpPr>
            <a:spLocks noChangeAspect="1"/>
          </p:cNvSpPr>
          <p:nvPr/>
        </p:nvSpPr>
        <p:spPr>
          <a:xfrm>
            <a:off x="1475875" y="5099333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E7280B34-7363-6545-B51F-82C0A7D66BC4}"/>
              </a:ext>
            </a:extLst>
          </p:cNvPr>
          <p:cNvSpPr>
            <a:spLocks noChangeAspect="1"/>
          </p:cNvSpPr>
          <p:nvPr/>
        </p:nvSpPr>
        <p:spPr>
          <a:xfrm>
            <a:off x="1472668" y="3463554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351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27B839B-9ADE-406B-8590-F1CAEDED4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5">
            <a:extLst>
              <a:ext uri="{FF2B5EF4-FFF2-40B4-BE49-F238E27FC236}">
                <a16:creationId xmlns:a16="http://schemas.microsoft.com/office/drawing/2014/main" id="{CFE45BF0-46DB-408C-B5F7-7B117168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1022350"/>
            <a:ext cx="709612" cy="2095501"/>
          </a:xfrm>
          <a:custGeom>
            <a:avLst/>
            <a:gdLst>
              <a:gd name="T0" fmla="*/ 447 w 447"/>
              <a:gd name="T1" fmla="*/ 1363 h 1363"/>
              <a:gd name="T2" fmla="*/ 0 w 447"/>
              <a:gd name="T3" fmla="*/ 987 h 1363"/>
              <a:gd name="T4" fmla="*/ 0 w 447"/>
              <a:gd name="T5" fmla="*/ 0 h 1363"/>
              <a:gd name="T6" fmla="*/ 447 w 447"/>
              <a:gd name="T7" fmla="*/ 376 h 1363"/>
              <a:gd name="T8" fmla="*/ 447 w 447"/>
              <a:gd name="T9" fmla="*/ 1363 h 1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7" h="1363">
                <a:moveTo>
                  <a:pt x="447" y="1363"/>
                </a:moveTo>
                <a:lnTo>
                  <a:pt x="0" y="987"/>
                </a:lnTo>
                <a:lnTo>
                  <a:pt x="0" y="0"/>
                </a:lnTo>
                <a:lnTo>
                  <a:pt x="447" y="376"/>
                </a:lnTo>
                <a:lnTo>
                  <a:pt x="447" y="1363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 46">
            <a:extLst>
              <a:ext uri="{FF2B5EF4-FFF2-40B4-BE49-F238E27FC236}">
                <a16:creationId xmlns:a16="http://schemas.microsoft.com/office/drawing/2014/main" id="{2AEBC8F2-97B1-41B4-93F1-2D289E197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09710" y="837744"/>
            <a:ext cx="403225" cy="1705431"/>
          </a:xfrm>
          <a:custGeom>
            <a:avLst/>
            <a:gdLst>
              <a:gd name="T0" fmla="*/ 254 w 254"/>
              <a:gd name="T1" fmla="*/ 987 h 1109"/>
              <a:gd name="T2" fmla="*/ 0 w 254"/>
              <a:gd name="T3" fmla="*/ 1109 h 1109"/>
              <a:gd name="T4" fmla="*/ 0 w 254"/>
              <a:gd name="T5" fmla="*/ 119 h 1109"/>
              <a:gd name="T6" fmla="*/ 254 w 254"/>
              <a:gd name="T7" fmla="*/ 0 h 1109"/>
              <a:gd name="T8" fmla="*/ 254 w 254"/>
              <a:gd name="T9" fmla="*/ 987 h 1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54" h="1109">
                <a:moveTo>
                  <a:pt x="254" y="987"/>
                </a:moveTo>
                <a:lnTo>
                  <a:pt x="0" y="1109"/>
                </a:lnTo>
                <a:lnTo>
                  <a:pt x="0" y="119"/>
                </a:lnTo>
                <a:lnTo>
                  <a:pt x="254" y="0"/>
                </a:lnTo>
                <a:lnTo>
                  <a:pt x="254" y="98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 47">
            <a:extLst>
              <a:ext uri="{FF2B5EF4-FFF2-40B4-BE49-F238E27FC236}">
                <a16:creationId xmlns:a16="http://schemas.microsoft.com/office/drawing/2014/main" id="{472E3A19-F5D5-48FC-BB9C-48C2F68F5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660" y="640894"/>
            <a:ext cx="168275" cy="1713195"/>
          </a:xfrm>
          <a:custGeom>
            <a:avLst/>
            <a:gdLst>
              <a:gd name="T0" fmla="*/ 106 w 106"/>
              <a:gd name="T1" fmla="*/ 1114 h 1114"/>
              <a:gd name="T2" fmla="*/ 0 w 106"/>
              <a:gd name="T3" fmla="*/ 1005 h 1114"/>
              <a:gd name="T4" fmla="*/ 0 w 106"/>
              <a:gd name="T5" fmla="*/ 0 h 1114"/>
              <a:gd name="T6" fmla="*/ 106 w 106"/>
              <a:gd name="T7" fmla="*/ 110 h 1114"/>
              <a:gd name="T8" fmla="*/ 106 w 106"/>
              <a:gd name="T9" fmla="*/ 1114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6" h="1114">
                <a:moveTo>
                  <a:pt x="106" y="1114"/>
                </a:moveTo>
                <a:lnTo>
                  <a:pt x="0" y="1005"/>
                </a:lnTo>
                <a:lnTo>
                  <a:pt x="0" y="0"/>
                </a:lnTo>
                <a:lnTo>
                  <a:pt x="106" y="110"/>
                </a:lnTo>
                <a:lnTo>
                  <a:pt x="106" y="111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 44">
            <a:extLst>
              <a:ext uri="{FF2B5EF4-FFF2-40B4-BE49-F238E27FC236}">
                <a16:creationId xmlns:a16="http://schemas.microsoft.com/office/drawing/2014/main" id="{7A62E32F-BB65-43A8-8EB5-92346890E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223203" y="635716"/>
            <a:ext cx="328612" cy="1742360"/>
          </a:xfrm>
          <a:custGeom>
            <a:avLst/>
            <a:gdLst>
              <a:gd name="T0" fmla="*/ 207 w 207"/>
              <a:gd name="T1" fmla="*/ 987 h 1114"/>
              <a:gd name="T2" fmla="*/ 0 w 207"/>
              <a:gd name="T3" fmla="*/ 1114 h 1114"/>
              <a:gd name="T4" fmla="*/ 0 w 207"/>
              <a:gd name="T5" fmla="*/ 127 h 1114"/>
              <a:gd name="T6" fmla="*/ 207 w 207"/>
              <a:gd name="T7" fmla="*/ 0 h 1114"/>
              <a:gd name="T8" fmla="*/ 207 w 207"/>
              <a:gd name="T9" fmla="*/ 987 h 11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7" h="1114">
                <a:moveTo>
                  <a:pt x="207" y="987"/>
                </a:moveTo>
                <a:lnTo>
                  <a:pt x="0" y="1114"/>
                </a:lnTo>
                <a:lnTo>
                  <a:pt x="0" y="127"/>
                </a:lnTo>
                <a:lnTo>
                  <a:pt x="207" y="0"/>
                </a:lnTo>
                <a:lnTo>
                  <a:pt x="207" y="98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4E91B64-9FCC-451E-AFB4-A827D6329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4055" y="635715"/>
            <a:ext cx="10907863" cy="154145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9B76C3-8F4A-C542-8D98-03D886ECE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8506" y="800392"/>
            <a:ext cx="10264697" cy="1212102"/>
          </a:xfrm>
        </p:spPr>
        <p:txBody>
          <a:bodyPr>
            <a:normAutofit/>
          </a:bodyPr>
          <a:lstStyle/>
          <a:p>
            <a:pPr algn="ctr"/>
            <a:r>
              <a:rPr lang="en-US" sz="4000" i="1">
                <a:solidFill>
                  <a:schemeClr val="bg1"/>
                </a:solidFill>
              </a:rPr>
              <a:t>Sanchez v. Los Angeles </a:t>
            </a:r>
            <a:r>
              <a:rPr lang="en-US" sz="4000" i="1" err="1">
                <a:solidFill>
                  <a:schemeClr val="bg1"/>
                </a:solidFill>
              </a:rPr>
              <a:t>Dep’t</a:t>
            </a:r>
            <a:r>
              <a:rPr lang="en-US" sz="4000" i="1">
                <a:solidFill>
                  <a:schemeClr val="bg1"/>
                </a:solidFill>
              </a:rPr>
              <a:t> of Transportation</a:t>
            </a:r>
            <a:r>
              <a:rPr lang="en-US" sz="4000">
                <a:solidFill>
                  <a:schemeClr val="bg1"/>
                </a:solidFill>
              </a:rPr>
              <a:t> (2021)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8AA76-EA75-8542-A5AE-D717C77B21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7624" y="2490436"/>
            <a:ext cx="9708995" cy="3567173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/>
              <a:t>Method of disclosure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Voluntariness</a:t>
            </a:r>
          </a:p>
          <a:p>
            <a:pPr marL="971550" lvl="1" indent="-514350">
              <a:buFont typeface="+mj-lt"/>
              <a:buAutoNum type="alphaLcPeriod"/>
            </a:pPr>
            <a:r>
              <a:rPr lang="en-US"/>
              <a:t>Indispensability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/>
              <a:t>Nature of information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Level of surveillance</a:t>
            </a:r>
          </a:p>
          <a:p>
            <a:pPr marL="914400" lvl="1" indent="-457200">
              <a:buFont typeface="+mj-lt"/>
              <a:buAutoNum type="alphaLcPeriod"/>
            </a:pPr>
            <a:r>
              <a:rPr lang="en-US"/>
              <a:t>Retrospective quality</a:t>
            </a:r>
          </a:p>
        </p:txBody>
      </p:sp>
      <p:sp>
        <p:nvSpPr>
          <p:cNvPr id="11" name="&quot;No&quot; Symbol 10">
            <a:extLst>
              <a:ext uri="{FF2B5EF4-FFF2-40B4-BE49-F238E27FC236}">
                <a16:creationId xmlns:a16="http://schemas.microsoft.com/office/drawing/2014/main" id="{5E1C4F0E-B280-194A-A3B6-344C79C574F8}"/>
              </a:ext>
            </a:extLst>
          </p:cNvPr>
          <p:cNvSpPr>
            <a:spLocks noChangeAspect="1"/>
          </p:cNvSpPr>
          <p:nvPr/>
        </p:nvSpPr>
        <p:spPr>
          <a:xfrm>
            <a:off x="1475875" y="4699138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&quot;No&quot; Symbol 12">
            <a:extLst>
              <a:ext uri="{FF2B5EF4-FFF2-40B4-BE49-F238E27FC236}">
                <a16:creationId xmlns:a16="http://schemas.microsoft.com/office/drawing/2014/main" id="{93AD011D-91C7-B54A-A527-C4E273694F8A}"/>
              </a:ext>
            </a:extLst>
          </p:cNvPr>
          <p:cNvSpPr>
            <a:spLocks noChangeAspect="1"/>
          </p:cNvSpPr>
          <p:nvPr/>
        </p:nvSpPr>
        <p:spPr>
          <a:xfrm>
            <a:off x="1472668" y="3463554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&quot;No&quot; Symbol 14">
            <a:extLst>
              <a:ext uri="{FF2B5EF4-FFF2-40B4-BE49-F238E27FC236}">
                <a16:creationId xmlns:a16="http://schemas.microsoft.com/office/drawing/2014/main" id="{86291E70-006E-CD43-8164-BD44055A9F30}"/>
              </a:ext>
            </a:extLst>
          </p:cNvPr>
          <p:cNvSpPr>
            <a:spLocks noChangeAspect="1"/>
          </p:cNvSpPr>
          <p:nvPr/>
        </p:nvSpPr>
        <p:spPr>
          <a:xfrm>
            <a:off x="1472668" y="3857331"/>
            <a:ext cx="365760" cy="365760"/>
          </a:xfrm>
          <a:prstGeom prst="noSmoking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4285630-E11A-4CC4-800A-68532E743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8">
            <a:extLst>
              <a:ext uri="{FF2B5EF4-FFF2-40B4-BE49-F238E27FC236}">
                <a16:creationId xmlns:a16="http://schemas.microsoft.com/office/drawing/2014/main" id="{069B0493-EC1B-42FD-A38E-D4620EA2CF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6152" y="2355786"/>
            <a:ext cx="5782800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 5">
            <a:extLst>
              <a:ext uri="{FF2B5EF4-FFF2-40B4-BE49-F238E27FC236}">
                <a16:creationId xmlns:a16="http://schemas.microsoft.com/office/drawing/2014/main" id="{D263E12D-D6FE-41E6-98B7-EBA88FED2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409782" y="1654168"/>
            <a:ext cx="822493" cy="4232692"/>
          </a:xfrm>
          <a:custGeom>
            <a:avLst/>
            <a:gdLst>
              <a:gd name="T0" fmla="*/ 491 w 491"/>
              <a:gd name="T1" fmla="*/ 2247 h 2732"/>
              <a:gd name="T2" fmla="*/ 0 w 491"/>
              <a:gd name="T3" fmla="*/ 2732 h 2732"/>
              <a:gd name="T4" fmla="*/ 0 w 491"/>
              <a:gd name="T5" fmla="*/ 486 h 2732"/>
              <a:gd name="T6" fmla="*/ 491 w 491"/>
              <a:gd name="T7" fmla="*/ 0 h 2732"/>
              <a:gd name="T8" fmla="*/ 491 w 491"/>
              <a:gd name="T9" fmla="*/ 2247 h 27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91" h="2732">
                <a:moveTo>
                  <a:pt x="491" y="2247"/>
                </a:moveTo>
                <a:lnTo>
                  <a:pt x="0" y="2732"/>
                </a:lnTo>
                <a:lnTo>
                  <a:pt x="0" y="486"/>
                </a:lnTo>
                <a:lnTo>
                  <a:pt x="491" y="0"/>
                </a:lnTo>
                <a:lnTo>
                  <a:pt x="491" y="2247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80FAEE97-8C0C-4ED5-BC7D-C6870947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311136"/>
            <a:ext cx="687754" cy="3820236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Freeform 7">
            <a:extLst>
              <a:ext uri="{FF2B5EF4-FFF2-40B4-BE49-F238E27FC236}">
                <a16:creationId xmlns:a16="http://schemas.microsoft.com/office/drawing/2014/main" id="{5BFAC9A7-CED6-40CD-BC73-6B06ECAC2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544520" y="1126737"/>
            <a:ext cx="347200" cy="3699705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880D38C5-CFB9-4498-AD9C-38B2BBF65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099168" y="1126737"/>
            <a:ext cx="5795510" cy="35310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65F4A3-984A-FC43-B6CD-7D9511A8C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113" y="1448470"/>
            <a:ext cx="5149124" cy="287080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Future of the Third-Party Doctrine</a:t>
            </a:r>
          </a:p>
        </p:txBody>
      </p:sp>
    </p:spTree>
    <p:extLst>
      <p:ext uri="{BB962C8B-B14F-4D97-AF65-F5344CB8AC3E}">
        <p14:creationId xmlns:p14="http://schemas.microsoft.com/office/powerpoint/2010/main" val="2087076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9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The Third-Party Doctrine Post-Carpenter</vt:lpstr>
      <vt:lpstr>What is the Third-Party Doctrine?</vt:lpstr>
      <vt:lpstr>Third Party Doctrine Theories</vt:lpstr>
      <vt:lpstr>Carpenter v. United States (2018)</vt:lpstr>
      <vt:lpstr>Carpenter Test</vt:lpstr>
      <vt:lpstr>United States Dep't of Just. v. Ricco Jonas (2022)</vt:lpstr>
      <vt:lpstr>United States v. Soybel (2021)</vt:lpstr>
      <vt:lpstr>Sanchez v. Los Angeles Dep’t of Transportation (2021)</vt:lpstr>
      <vt:lpstr>The Future of the Third-Party Doctrine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Third-Party Doctrine Post-Carpenter</dc:title>
  <dc:creator>Benjamin Janis</dc:creator>
  <cp:revision>1</cp:revision>
  <dcterms:created xsi:type="dcterms:W3CDTF">2022-03-26T01:43:40Z</dcterms:created>
  <dcterms:modified xsi:type="dcterms:W3CDTF">2022-03-26T12:53:38Z</dcterms:modified>
</cp:coreProperties>
</file>